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5" r:id="rId2"/>
    <p:sldId id="308" r:id="rId3"/>
    <p:sldId id="31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57"/>
    <p:restoredTop sz="96197"/>
  </p:normalViewPr>
  <p:slideViewPr>
    <p:cSldViewPr snapToGrid="0" snapToObjects="1">
      <p:cViewPr varScale="1">
        <p:scale>
          <a:sx n="72" d="100"/>
          <a:sy n="72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79D3-506F-3B41-B353-ABF7C6409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77924-7360-EE45-B963-39FBAE53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A5B5E-054D-444F-A7A7-F15C41A9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C3FF-5840-6F4E-B2D3-D974F0C2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6B9EB-0EAA-2549-A791-11446F18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548EB-1E20-084E-9892-8868BD1FBBBB}"/>
              </a:ext>
            </a:extLst>
          </p:cNvPr>
          <p:cNvSpPr/>
          <p:nvPr userDrawn="1"/>
        </p:nvSpPr>
        <p:spPr>
          <a:xfrm>
            <a:off x="304801" y="0"/>
            <a:ext cx="11892940" cy="326571"/>
          </a:xfrm>
          <a:prstGeom prst="rect">
            <a:avLst/>
          </a:prstGeom>
          <a:solidFill>
            <a:srgbClr val="B22600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A48028-1043-6946-9A48-BCDA112686D9}"/>
              </a:ext>
            </a:extLst>
          </p:cNvPr>
          <p:cNvSpPr/>
          <p:nvPr userDrawn="1"/>
        </p:nvSpPr>
        <p:spPr>
          <a:xfrm>
            <a:off x="15239" y="326571"/>
            <a:ext cx="289561" cy="6531429"/>
          </a:xfrm>
          <a:prstGeom prst="rect">
            <a:avLst/>
          </a:prstGeom>
          <a:solidFill>
            <a:srgbClr val="B64926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05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5677594" y="-4098175"/>
            <a:ext cx="958734" cy="1099496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3984402" y="-1313693"/>
            <a:ext cx="4345118" cy="109949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C374C-12B5-B34E-8CD7-CCE873E8E932}" type="datetime1">
              <a:rPr lang="en-IN" smtClean="0"/>
              <a:t>29-07-2025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http://</a:t>
            </a:r>
            <a:r>
              <a:rPr lang="en-IN" dirty="0" err="1"/>
              <a:t>cse.iitkgp.ac.in</a:t>
            </a:r>
            <a:r>
              <a:rPr lang="en-IN" dirty="0"/>
              <a:t>/</a:t>
            </a:r>
            <a:r>
              <a:rPr lang="en-IN" dirty="0" err="1"/>
              <a:t>resgrp</a:t>
            </a:r>
            <a:r>
              <a:rPr lang="en-IN" dirty="0"/>
              <a:t>/</a:t>
            </a:r>
            <a:r>
              <a:rPr lang="en-IN" dirty="0" err="1"/>
              <a:t>hiprc</a:t>
            </a:r>
            <a:r>
              <a:rPr lang="en-IN" dirty="0"/>
              <a:t>/</a:t>
            </a: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10124902" y="6356350"/>
            <a:ext cx="2067098" cy="3651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Soumyajit Dey, IIT </a:t>
            </a:r>
            <a:r>
              <a:rPr lang="en-IN" dirty="0" err="1"/>
              <a:t>Kharapur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EF28A5-25BE-0B47-B9BA-0BCAFDA82F8A}"/>
              </a:ext>
            </a:extLst>
          </p:cNvPr>
          <p:cNvSpPr/>
          <p:nvPr userDrawn="1"/>
        </p:nvSpPr>
        <p:spPr>
          <a:xfrm>
            <a:off x="286096" y="0"/>
            <a:ext cx="11892940" cy="326571"/>
          </a:xfrm>
          <a:prstGeom prst="rect">
            <a:avLst/>
          </a:prstGeom>
          <a:solidFill>
            <a:srgbClr val="B22600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5B7D5B-B878-2A44-8CC4-E33D39BE4779}"/>
              </a:ext>
            </a:extLst>
          </p:cNvPr>
          <p:cNvSpPr/>
          <p:nvPr userDrawn="1"/>
        </p:nvSpPr>
        <p:spPr>
          <a:xfrm>
            <a:off x="-3465" y="337329"/>
            <a:ext cx="289561" cy="6531429"/>
          </a:xfrm>
          <a:prstGeom prst="rect">
            <a:avLst/>
          </a:prstGeom>
          <a:solidFill>
            <a:srgbClr val="B64926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27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24FB-BBBE-614A-82DD-DD1E6EFD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5926A-4EE0-C04F-A2F2-C97EB0EB2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DABD3-42E9-9A4C-87F5-0948E671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061F1-1040-2949-A615-79691983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D0AA8-6477-9441-85C8-19D5C41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0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8E31-346C-DB41-B963-EED2D584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6AF9D-EC6A-2042-A023-FC9E3A149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05608-6882-9049-9609-AFC769CA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F20E-4632-F946-8C12-20E246CD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E830B-E544-A742-B626-5E0E15C0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2F9D-BD1A-ED40-B246-0A958584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9C8C-7F47-AA4D-BA56-ECA45D86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5E7B7-9A7F-B94D-B8C5-0AEBD9F84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A8572-C598-2A40-ABE8-78C3F6C1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F5542-CF3F-1B45-82B7-D12CB92F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8739B-99BA-0F4E-B23C-D128570F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0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1952-7A9C-C04B-8B28-E3300A04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984C9-91A8-3D48-9811-D808DC143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D0D5F-394A-E648-888B-F439698E6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DB14B-6D70-E44A-8665-A02FBB2AB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25A91-C49F-EF40-B906-5D3F4A700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CDFE7-989B-1D41-848F-43253C42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DF1FF-A42E-8049-81D5-3C943A36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654F10-92E5-6B49-AEA9-3EC36C7F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2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197C-0AFD-B64D-A90A-A7D31ECD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354FD-9087-DC4C-B220-793B012F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E3096-2E1A-4744-A660-8E9CF788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84D2A-5262-BC45-94C7-0D36B58A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5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42733-C8BB-3B4F-AEFD-A11584B6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3B21F-2B60-624E-A879-437C9396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E46B9-1FE9-D94E-91A8-A4AC1E48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5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66F84-CDA1-5E4B-AA87-B4BC3F92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0C7E3-4FC3-CC4B-AD03-B70A08C1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4385B-4D2C-6F43-AE7F-570EA1200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53098-4869-B94C-8395-4B518023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E9F66-3255-6144-8EA7-CCF9249F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B920-2800-B244-B583-6DF0754D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3CAC-A0F3-424D-8B9E-C724E75DB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3445A-1FD0-3940-B1A7-BFF89EFC6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F591-7CAE-7B40-A36D-E2EF955D0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0465C-515E-4140-9480-8FDFB2CE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DE27C-49F2-9045-A631-DFF3E9F44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1B2F5-B5CD-F749-BAE7-631D1FC7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8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379A-80D2-4246-BBAA-B942D0D4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73347-F8B0-0247-99D9-50EECEC9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2CD62-91D3-3C45-B19E-00A17D88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ABCD-814A-7E42-8A4C-9EACC577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783E-F44C-8545-8245-6029C7BF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81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74117-4AAE-FF4D-896A-F4F31636E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6A2FC-038E-7645-8290-EFAE56537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DDC6E-4C2B-CE45-A4AA-C0ED2881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7B40B-4E2E-A143-B9BC-B8A48120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C5EAE-6AE7-EF4D-9801-A67A67E1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F3787-5F23-5D43-9C9C-C4A0FFFB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9BC3F-B869-BC49-BE96-581483353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0E757-B74A-7945-AD1F-7006FC543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FBC58-3EE6-D24D-B40F-760DBD68E2E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BB8B-E0D1-A94B-BF1F-6B57EFD86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BE982-1678-7448-84A1-CB3D3AA99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5F1D7-52AC-B84D-BC93-9529F82A6B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A3EF0-B3A8-AB4A-BCE3-CB81A855517D}"/>
              </a:ext>
            </a:extLst>
          </p:cNvPr>
          <p:cNvSpPr/>
          <p:nvPr userDrawn="1"/>
        </p:nvSpPr>
        <p:spPr>
          <a:xfrm>
            <a:off x="304801" y="0"/>
            <a:ext cx="11892940" cy="326571"/>
          </a:xfrm>
          <a:prstGeom prst="rect">
            <a:avLst/>
          </a:prstGeom>
          <a:solidFill>
            <a:srgbClr val="B22600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1AA34E-FE1E-F44D-B11A-0CE83CFBB9D1}"/>
              </a:ext>
            </a:extLst>
          </p:cNvPr>
          <p:cNvSpPr/>
          <p:nvPr userDrawn="1"/>
        </p:nvSpPr>
        <p:spPr>
          <a:xfrm>
            <a:off x="15239" y="326571"/>
            <a:ext cx="289561" cy="6531429"/>
          </a:xfrm>
          <a:prstGeom prst="rect">
            <a:avLst/>
          </a:prstGeom>
          <a:solidFill>
            <a:srgbClr val="B64926">
              <a:lumMod val="50000"/>
            </a:srgbClr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7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34CE-F3EE-B277-4EDB-49341415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1 (marks 10)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DED80-7C82-FBB2-C976-57DA0BBA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Your program takes as input an integer x</a:t>
            </a:r>
          </a:p>
          <a:p>
            <a:r>
              <a:rPr lang="en-IN" dirty="0"/>
              <a:t>It computes </a:t>
            </a:r>
            <a:r>
              <a:rPr lang="en-IN" dirty="0" err="1"/>
              <a:t>e^x</a:t>
            </a:r>
            <a:r>
              <a:rPr lang="en-IN" dirty="0"/>
              <a:t> using Taylor series expansion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Compute the series until the intermediate sum does not change in two successive iterations(till first 2 decimal points) and print the final result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D36D8-164E-FE44-9FF7-C776D732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060" y="2876102"/>
            <a:ext cx="4302984" cy="11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3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52E52-4DB4-F9C4-CDA9-F4FF1117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2: Recursive GCD Calculation </a:t>
            </a:r>
            <a:br>
              <a:rPr lang="en-US" sz="4000" dirty="0"/>
            </a:br>
            <a:r>
              <a:rPr lang="en-US" sz="4000" dirty="0"/>
              <a:t>(marks 15)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B46F-777E-A96F-6FA4-35652701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 Write a complete MIPS-32 program to calculate and display the GCD of two non-negative integers collected from the user, using a recursive function </a:t>
            </a:r>
            <a:r>
              <a:rPr lang="en-US" sz="2400" dirty="0" err="1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find_gcd</a:t>
            </a:r>
            <a:r>
              <a:rPr lang="en-US" sz="2400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 (……)</a:t>
            </a:r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After the input numbers are collected from the user, there should be sanity checking to ensure that the integers are non-negative using a function </a:t>
            </a:r>
            <a:r>
              <a:rPr lang="en-US" sz="2000" dirty="0" err="1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check_non_negative_values</a:t>
            </a:r>
            <a:r>
              <a:rPr lang="en-US" sz="2000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(..)</a:t>
            </a:r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; if they are not, print an error message and exit. </a:t>
            </a:r>
          </a:p>
          <a:p>
            <a:pPr lvl="1"/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Otherwise, print the GCD from inside the main() function with a proper message. </a:t>
            </a:r>
          </a:p>
          <a:p>
            <a:endParaRPr lang="en-US" sz="2400" dirty="0">
              <a:latin typeface="Helvetica" pitchFamily="2" charset="0"/>
              <a:cs typeface="Times New Roman" panose="02020603050405020304" pitchFamily="18" charset="0"/>
            </a:endParaRPr>
          </a:p>
          <a:p>
            <a:endParaRPr lang="en-US" sz="2400" dirty="0">
              <a:latin typeface="Helvetica" pitchFamily="2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Helvetica" pitchFamily="2" charset="0"/>
                <a:cs typeface="Times New Roman" panose="02020603050405020304" pitchFamily="18" charset="0"/>
              </a:rPr>
              <a:t>Follow all usual register usage conventions for recursive and non-recursive MIPS-32 function calls.</a:t>
            </a:r>
          </a:p>
        </p:txBody>
      </p:sp>
    </p:spTree>
    <p:extLst>
      <p:ext uri="{BB962C8B-B14F-4D97-AF65-F5344CB8AC3E}">
        <p14:creationId xmlns:p14="http://schemas.microsoft.com/office/powerpoint/2010/main" val="126761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1291-38C6-CE91-02A2-40A29FCE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D2E2-27AF-B10B-A62D-30444438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7458-84B5-1434-98E4-F7750E8CE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programs with suitable comments </a:t>
            </a:r>
          </a:p>
          <a:p>
            <a:r>
              <a:rPr lang="en-US" dirty="0"/>
              <a:t>Without suitable commenting marks will be deducted</a:t>
            </a:r>
          </a:p>
        </p:txBody>
      </p:sp>
    </p:spTree>
    <p:extLst>
      <p:ext uri="{BB962C8B-B14F-4D97-AF65-F5344CB8AC3E}">
        <p14:creationId xmlns:p14="http://schemas.microsoft.com/office/powerpoint/2010/main" val="17788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CS-26-09-22" id="{A5729B80-73A6-7A40-9B43-D63252B7B535}" vid="{6341A1DC-26C3-4342-9DE3-2FA9ECAE59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178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Office Theme</vt:lpstr>
      <vt:lpstr>Assignment 1 (marks 10)</vt:lpstr>
      <vt:lpstr>Assignment 2: Recursive GCD Calculation  (marks 15)</vt:lpstr>
      <vt:lpstr>Upload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CS39001 COMPUTER ORGANIZATION AND ARCHITECTURE LAB</dc:title>
  <dc:creator>soumya</dc:creator>
  <cp:lastModifiedBy>SEAL LAPTOP</cp:lastModifiedBy>
  <cp:revision>25</cp:revision>
  <dcterms:created xsi:type="dcterms:W3CDTF">2023-07-31T18:11:31Z</dcterms:created>
  <dcterms:modified xsi:type="dcterms:W3CDTF">2025-07-29T10:17:11Z</dcterms:modified>
</cp:coreProperties>
</file>